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3285caa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73285caa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73285caa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73285caa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73285caa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73285caa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73285caa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73285caa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73285caa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73285caa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3285caa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73285caa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73285caa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73285caa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73285caa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73285caa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73285caa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73285caa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73285caa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73285caa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feu.awsassets.panda.org/downloads/2025-forest-fire-analysis-summary.pdf" TargetMode="Externa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feu.awsassets.panda.org/downloads/nadrb_booklet_wild_fires_form-1.pdf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bg" sz="4280">
                <a:solidFill>
                  <a:srgbClr val="131313"/>
                </a:solidFill>
              </a:rPr>
              <a:t>Н</a:t>
            </a:r>
            <a:r>
              <a:rPr i="1" lang="bg" sz="4280">
                <a:solidFill>
                  <a:srgbClr val="131313"/>
                </a:solidFill>
              </a:rPr>
              <a:t>ай-мащабните горски </a:t>
            </a:r>
            <a:endParaRPr i="1" sz="4280">
              <a:solidFill>
                <a:srgbClr val="13131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bg" sz="4280">
                <a:solidFill>
                  <a:srgbClr val="131313"/>
                </a:solidFill>
              </a:rPr>
              <a:t>пожари в България</a:t>
            </a:r>
            <a:endParaRPr i="1" sz="4280">
              <a:solidFill>
                <a:srgbClr val="13131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78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bg" sz="2143">
                <a:highlight>
                  <a:srgbClr val="131313"/>
                </a:highlight>
              </a:rPr>
              <a:t>Мария Атанасова Радева 5а   клас</a:t>
            </a:r>
            <a:endParaRPr b="1" sz="2143">
              <a:highlight>
                <a:srgbClr val="131313"/>
              </a:highlight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375" y="2169700"/>
            <a:ext cx="3966625" cy="29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650" y="3250725"/>
            <a:ext cx="3016400" cy="17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513950" y="410000"/>
            <a:ext cx="83184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4667">
                <a:highlight>
                  <a:schemeClr val="lt1"/>
                </a:highlight>
              </a:rPr>
              <a:t>О</a:t>
            </a:r>
            <a:r>
              <a:rPr b="1" lang="bg" sz="4222">
                <a:highlight>
                  <a:schemeClr val="lt1"/>
                </a:highlight>
              </a:rPr>
              <a:t>пазване на горите и мерки .</a:t>
            </a:r>
            <a:endParaRPr b="1" sz="4222">
              <a:highlight>
                <a:schemeClr val="lt1"/>
              </a:highlight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0" y="1124350"/>
            <a:ext cx="6144000" cy="3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През последното десетилетие горските пожари в България стават все по-чести, по-интензивни и засягат все по-големи площи,  включително и защитени територии и зони. Техният мащаб, както и щетите, които нанасят върху природата, човешкото здраве и имуществото, налагат въвеждането на по-ефективни мерки.</a:t>
            </a:r>
            <a:endParaRPr sz="22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600" y="3230600"/>
            <a:ext cx="2782550" cy="167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4500" y="1170200"/>
            <a:ext cx="3139500" cy="23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996625" y="410000"/>
            <a:ext cx="7835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700"/>
              <a:t>О</a:t>
            </a:r>
            <a:r>
              <a:rPr b="1" lang="bg" sz="3700"/>
              <a:t>пазване на горите и мерки .</a:t>
            </a:r>
            <a:endParaRPr b="1" sz="3700"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0" y="1017800"/>
            <a:ext cx="6215700" cy="4125600"/>
          </a:xfrm>
          <a:prstGeom prst="rect">
            <a:avLst/>
          </a:prstGeom>
        </p:spPr>
        <p:txBody>
          <a:bodyPr anchorCtr="0" anchor="t" bIns="91425" lIns="91425" spcFirstLastPara="1" rIns="55600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2024-а беше най-горещата година досега. А България беше на 2-о място в Европа по брой на пожарите.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br>
              <a:rPr b="1"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Бяха регистрирани 595 пожара, преките щети от които възлизат на почти </a:t>
            </a:r>
            <a:r>
              <a:rPr b="1"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8,4 милиона лева</a:t>
            </a:r>
            <a:r>
              <a:rPr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Основните причини за възникването на горски пожари в България са свързани с човешка дейност. Според </a:t>
            </a:r>
            <a:r>
              <a:rPr b="1" lang="bg" u="sng">
                <a:solidFill>
                  <a:srgbClr val="13131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доклад на WWF България</a:t>
            </a:r>
            <a:r>
              <a:rPr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изготвен през месец май тази година, </a:t>
            </a:r>
            <a:r>
              <a:rPr b="1"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над</a:t>
            </a:r>
            <a:r>
              <a:rPr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90% от пожарите са резултат от човешка намеса </a:t>
            </a:r>
            <a:r>
              <a:rPr lang="b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– преднамерена или поради небрежност. Открояват се причини като: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1250" y="1216463"/>
            <a:ext cx="2822750" cy="27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5125" y="379825"/>
            <a:ext cx="81978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800"/>
              <a:t>Опазване на горите  и мерки .</a:t>
            </a:r>
            <a:endParaRPr b="1" sz="3800"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0" y="1082275"/>
            <a:ext cx="6242100" cy="3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С голяма вероятност може да се твърди, че над 80% от всички горски пожари възникват извън горските територии и впоследствие се прехвърлят в тях. За голяма част от пожарите в равнинните и хълмисти части на България е известно, че са стартирали от земеделски площи или пасища при </a:t>
            </a:r>
            <a:r>
              <a:rPr b="1"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изгарянето на стърнища, сухи треви или други растителни остатъци</a:t>
            </a: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след което са се разпространили в съседни горски територии.</a:t>
            </a:r>
            <a:endParaRPr sz="2200"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750" y="1082275"/>
            <a:ext cx="3001500" cy="2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996625" y="410000"/>
            <a:ext cx="7835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400"/>
              <a:t>Опазване на горите и мерки .</a:t>
            </a:r>
            <a:endParaRPr b="1" sz="3400"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0" y="1017800"/>
            <a:ext cx="6200700" cy="3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WWF България стартира кампания</a:t>
            </a:r>
            <a:r>
              <a:rPr lang="bg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за да призове гражданите да са особено внимателни и да предовратяват запалването на огън в близост до гориста местност, както и за да събере </a:t>
            </a:r>
            <a:r>
              <a:rPr b="1" lang="bg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дарения в подкрепа на Националната асоциация на доброволците в Република България и Зелени Балкани</a:t>
            </a:r>
            <a:r>
              <a:rPr lang="bg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350" y="1170200"/>
            <a:ext cx="3242950" cy="26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1268125" y="410000"/>
            <a:ext cx="7564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500"/>
              <a:t>Опазване на горите и мерки .</a:t>
            </a:r>
            <a:endParaRPr b="1" sz="3500"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-1039625" y="1017800"/>
            <a:ext cx="6772500" cy="3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1993900" marR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334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С част от приходите от кампанията ще помогнем да</a:t>
            </a:r>
            <a:r>
              <a:rPr lang="bg" sz="2334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" sz="2334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се купят екипировка и оборудване за доброволците, които с риск за живота и здравето си се впускат в гасенето на особено опасни горски пожари.</a:t>
            </a:r>
            <a:br>
              <a:rPr lang="bg" sz="2334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lang="bg" sz="2334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bg" sz="2334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 с другата част ще подкрепим работата на Спасителния център за диви животни на Зелени Балкани в гр. Стара Загора, които ще се погрижат за пострадали при горски пожар диви животни.</a:t>
            </a:r>
            <a:endParaRPr sz="2334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100" y="1134000"/>
            <a:ext cx="3378725" cy="28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906125" y="410000"/>
            <a:ext cx="79263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700"/>
              <a:t>Опазване на горите и мерки .</a:t>
            </a:r>
            <a:endParaRPr b="1" sz="3700"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0" y="952975"/>
            <a:ext cx="6140400" cy="3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647700" rtl="0" algn="just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2000"/>
              <a:buChar char="●"/>
            </a:pPr>
            <a:r>
              <a:rPr lang="bg" sz="2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Ако забележите признаци на пожар в гората (дим, мирис на изгоряло и пламъци), трябва да потърсите безопасен път да напуснете района на пожара в посока обратна на вятъра или покрай езера, реки и потоци.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400" y="1017800"/>
            <a:ext cx="3003600" cy="27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544125" y="410000"/>
            <a:ext cx="82881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3556"/>
              <a:t>О</a:t>
            </a:r>
            <a:r>
              <a:rPr b="1" lang="bg" sz="4000"/>
              <a:t>пазване на горите и мерки .</a:t>
            </a:r>
            <a:endParaRPr b="1"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6525" y="1229875"/>
            <a:ext cx="60033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5756" lvl="0" marL="6477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1688"/>
              <a:buChar char="●"/>
            </a:pPr>
            <a:r>
              <a:rPr lang="bg" sz="196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След като избегнете първоначалната опасност, по най-бързия начин трябва да подадете сигнал на тел. 112. Не разчитайте, че някой друг вече го е направил.</a:t>
            </a:r>
            <a:endParaRPr sz="1965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756" lvl="0" marL="6477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1688"/>
              <a:buChar char="●"/>
            </a:pPr>
            <a:r>
              <a:rPr lang="bg" sz="196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Ако запалването е в начална фаза, може да го потушите с пръст, пясък и тупалки от зелени клони.</a:t>
            </a:r>
            <a:br>
              <a:rPr lang="bg" sz="196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lang="bg" sz="196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bg" sz="196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Повече полезни съвети вижте в </a:t>
            </a:r>
            <a:r>
              <a:rPr lang="bg" sz="1965" u="sng">
                <a:solidFill>
                  <a:srgbClr val="3939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брошурата, подготвена от Национална асоциация на доброволците в България.</a:t>
            </a:r>
            <a:endParaRPr sz="1965" u="sng">
              <a:solidFill>
                <a:srgbClr val="3939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6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0575" y="1173663"/>
            <a:ext cx="2641725" cy="17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6888" y="3110025"/>
            <a:ext cx="2717100" cy="18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981525" y="239600"/>
            <a:ext cx="79713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500"/>
              <a:t>Опазване на горите и мерки .</a:t>
            </a:r>
            <a:endParaRPr b="1"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00"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0" y="937900"/>
            <a:ext cx="6230700" cy="3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647700" rtl="0" algn="l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2100"/>
              <a:buChar char="●"/>
            </a:pPr>
            <a:r>
              <a:rPr lang="bg" sz="2250">
                <a:solidFill>
                  <a:srgbClr val="000000"/>
                </a:solidFill>
                <a:highlight>
                  <a:srgbClr val="FFFFFF"/>
                </a:highlight>
              </a:rPr>
              <a:t>Не е допустимо изхвърлянето на неизгасени кибритени клечки и фасове в леснозапалима среда!</a:t>
            </a:r>
            <a:endParaRPr sz="2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61950" lvl="0" marL="647700" rtl="0" algn="l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2100"/>
              <a:buChar char="●"/>
            </a:pPr>
            <a:r>
              <a:rPr lang="bg" sz="2250">
                <a:solidFill>
                  <a:srgbClr val="000000"/>
                </a:solidFill>
                <a:highlight>
                  <a:srgbClr val="FFFFFF"/>
                </a:highlight>
              </a:rPr>
              <a:t>Всички моторни превозни средства, които навлизат в горите, трябва да са технически изправни, с изпускателна уредба, недопускаща отделянето или изхвърлянето на искри.</a:t>
            </a:r>
            <a:endParaRPr sz="2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000" y="1017800"/>
            <a:ext cx="3049000" cy="26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755275" y="410000"/>
            <a:ext cx="80769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3333"/>
              <a:t>О</a:t>
            </a:r>
            <a:r>
              <a:rPr b="1" lang="bg" sz="3889"/>
              <a:t>пазване на горите и мерки .</a:t>
            </a:r>
            <a:endParaRPr b="1" sz="3889"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0" y="1017800"/>
            <a:ext cx="61719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647700" rtl="0" algn="l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2000"/>
              <a:buChar char="●"/>
            </a:pPr>
            <a:r>
              <a:rPr lang="bg" sz="2150">
                <a:solidFill>
                  <a:srgbClr val="000000"/>
                </a:solidFill>
                <a:highlight>
                  <a:srgbClr val="FFFFFF"/>
                </a:highlight>
              </a:rPr>
              <a:t>Не трябва да се пали огън в гората, освен на специално обезопасените и обозначени за това места. Преди да запалите огън, се уверете, че имате достатъчни количества вода или други подръчни средства за загасяването му при поява на вятър и при напускане на мястото. </a:t>
            </a:r>
            <a:endParaRPr sz="21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475" y="1168625"/>
            <a:ext cx="3243525" cy="265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830700" y="410000"/>
            <a:ext cx="8001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bg" sz="3600"/>
              <a:t>Опазване на горите и мерки .</a:t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900"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0" y="1017800"/>
            <a:ext cx="62307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Все още </a:t>
            </a:r>
            <a:r>
              <a:rPr b="1"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не всички стари гори притежават необходимата защита</a:t>
            </a: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Незаконният дърводобив </a:t>
            </a: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води до влошаване функциите на горите за опазване на водите и биоразнообразието, както и до </a:t>
            </a:r>
            <a:r>
              <a:rPr b="1"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икономически загуби за всички нас</a:t>
            </a: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Климатичните промени</a:t>
            </a: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които правят горските екосистеми по-уязвими, налагат да съобразим управлението на горите с тях и да изградим</a:t>
            </a:r>
            <a:r>
              <a:rPr b="1"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култура на успешни залесявания с местни видове</a:t>
            </a:r>
            <a:r>
              <a:rPr lang="bg" sz="1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Така ще подпомогнем адаптацията на горите към променящия се климат.</a:t>
            </a:r>
            <a:endParaRPr sz="2200"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700" y="1017800"/>
            <a:ext cx="2913300" cy="247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