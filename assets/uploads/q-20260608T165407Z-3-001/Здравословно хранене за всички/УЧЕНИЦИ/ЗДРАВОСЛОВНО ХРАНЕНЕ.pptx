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8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E70392-CD28-FE51-2973-6CFD044F67EB}" v="6" dt="2026-02-25T11:12:08.444"/>
    <p1510:client id="{8645A147-01B2-4A81-82F2-0BF8687C754A}" v="618" dt="2026-02-25T11:06:12.5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/>
              <a:t>Щракнете за редакция стил подзагл. обр.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23.3.2026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68234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23.3.2026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675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23.3.2026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08347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23.3.2026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3866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23.3.2026 г.</a:t>
            </a:fld>
            <a:endParaRPr lang="bg-BG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79854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23.3.2026 г.</a:t>
            </a:fld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07984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23.3.2026 г.</a:t>
            </a:fld>
            <a:endParaRPr lang="bg-BG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23044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23.3.2026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89530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23.3.2026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87967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23.3.2026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11056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23.3.2026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87108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104224-5F53-4681-B114-4FDA2DEB297A}" type="datetimeFigureOut">
              <a:rPr lang="bg-BG" smtClean="0"/>
              <a:t>23.3.2026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7533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Картина 3" descr="Да се разболееш от здравословно хранене? Възможно е!|Edna.bg">
            <a:extLst>
              <a:ext uri="{FF2B5EF4-FFF2-40B4-BE49-F238E27FC236}">
                <a16:creationId xmlns:a16="http://schemas.microsoft.com/office/drawing/2014/main" id="{F1DCA7D6-E31D-E60B-EEF1-75BDCE27F7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8" name="Rectangle 10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154636" y="2253731"/>
            <a:ext cx="6430188" cy="2361544"/>
          </a:xfrm>
        </p:spPr>
        <p:txBody>
          <a:bodyPr anchor="t">
            <a:normAutofit/>
          </a:bodyPr>
          <a:lstStyle/>
          <a:p>
            <a:pPr algn="l"/>
            <a:r>
              <a:rPr lang="bg-BG" b="1" i="1">
                <a:solidFill>
                  <a:srgbClr val="FFFFFF"/>
                </a:solidFill>
                <a:cs typeface="Angsana New"/>
              </a:rPr>
              <a:t>Здравословно хранене</a:t>
            </a:r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154636" y="2811377"/>
            <a:ext cx="5449479" cy="15780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bg-BG">
                <a:solidFill>
                  <a:srgbClr val="FFFFFF"/>
                </a:solidFill>
              </a:rPr>
              <a:t>От: Христо К. Христов</a:t>
            </a: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730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Картина 3" descr="Трендове в здравословното хранене — NRGTV">
            <a:extLst>
              <a:ext uri="{FF2B5EF4-FFF2-40B4-BE49-F238E27FC236}">
                <a16:creationId xmlns:a16="http://schemas.microsoft.com/office/drawing/2014/main" id="{17912647-4753-BCC1-895E-4B0F76F665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84" r="9708" b="-1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4D00A74-2771-44E4-DE1C-66E08C057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002" y="-881194"/>
            <a:ext cx="9192364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>
                <a:latin typeface="Batang"/>
                <a:ea typeface="Batang"/>
              </a:rPr>
              <a:t>1. </a:t>
            </a:r>
            <a:r>
              <a:rPr lang="en-US" sz="5600" err="1">
                <a:latin typeface="Batang"/>
                <a:ea typeface="Batang"/>
              </a:rPr>
              <a:t>Какво</a:t>
            </a:r>
            <a:r>
              <a:rPr lang="en-US" sz="5600">
                <a:latin typeface="Batang"/>
                <a:ea typeface="Batang"/>
              </a:rPr>
              <a:t> е </a:t>
            </a:r>
            <a:r>
              <a:rPr lang="en-US" sz="5600" err="1">
                <a:latin typeface="Batang"/>
                <a:ea typeface="Batang"/>
              </a:rPr>
              <a:t>здравословно</a:t>
            </a:r>
            <a:r>
              <a:rPr lang="en-US" sz="5600">
                <a:latin typeface="Batang"/>
                <a:ea typeface="Batang"/>
              </a:rPr>
              <a:t> </a:t>
            </a:r>
            <a:r>
              <a:rPr lang="en-US" sz="5600" err="1">
                <a:latin typeface="Batang"/>
                <a:ea typeface="Batang"/>
              </a:rPr>
              <a:t>хранене</a:t>
            </a:r>
            <a:r>
              <a:rPr lang="en-US" sz="5600">
                <a:latin typeface="Batang"/>
                <a:ea typeface="Batang"/>
              </a:rPr>
              <a:t>?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B474D4FD-4986-89C9-E7C5-907D81918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267" y="3435913"/>
            <a:ext cx="5252970" cy="1485319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3600" b="1" i="1" err="1">
                <a:latin typeface="Angsana New"/>
                <a:cs typeface="Angsana New"/>
              </a:rPr>
              <a:t>Здравословно</a:t>
            </a:r>
            <a:r>
              <a:rPr lang="en-US" sz="3600" b="1" i="1">
                <a:latin typeface="Angsana New"/>
                <a:cs typeface="Angsana New"/>
              </a:rPr>
              <a:t> </a:t>
            </a:r>
            <a:r>
              <a:rPr lang="en-US" sz="3600" b="1" i="1" err="1">
                <a:latin typeface="Angsana New"/>
                <a:cs typeface="Angsana New"/>
              </a:rPr>
              <a:t>хранене</a:t>
            </a:r>
            <a:r>
              <a:rPr lang="en-US" sz="3600" b="1" i="1">
                <a:latin typeface="Angsana New"/>
                <a:cs typeface="Angsana New"/>
              </a:rPr>
              <a:t> е </a:t>
            </a:r>
            <a:r>
              <a:rPr lang="en-US" sz="3600" b="1" i="1" err="1">
                <a:latin typeface="Angsana New"/>
                <a:cs typeface="Angsana New"/>
              </a:rPr>
              <a:t>начин</a:t>
            </a:r>
            <a:r>
              <a:rPr lang="en-US" sz="3600" b="1" i="1">
                <a:latin typeface="Angsana New"/>
                <a:cs typeface="Angsana New"/>
              </a:rPr>
              <a:t> </a:t>
            </a:r>
            <a:r>
              <a:rPr lang="en-US" sz="3600" b="1" i="1" err="1">
                <a:latin typeface="Angsana New"/>
                <a:cs typeface="Angsana New"/>
              </a:rPr>
              <a:t>да</a:t>
            </a:r>
            <a:r>
              <a:rPr lang="en-US" sz="3600" b="1" i="1">
                <a:latin typeface="Angsana New"/>
                <a:cs typeface="Angsana New"/>
              </a:rPr>
              <a:t> </a:t>
            </a:r>
            <a:r>
              <a:rPr lang="en-US" sz="3600" b="1" i="1" err="1">
                <a:latin typeface="Angsana New"/>
                <a:cs typeface="Angsana New"/>
              </a:rPr>
              <a:t>помогнем</a:t>
            </a:r>
            <a:r>
              <a:rPr lang="en-US" sz="3600" b="1" i="1">
                <a:latin typeface="Angsana New"/>
                <a:cs typeface="Angsana New"/>
              </a:rPr>
              <a:t> </a:t>
            </a:r>
            <a:r>
              <a:rPr lang="en-US" sz="3600" b="1" i="1" err="1">
                <a:latin typeface="Angsana New"/>
                <a:cs typeface="Angsana New"/>
              </a:rPr>
              <a:t>на</a:t>
            </a:r>
            <a:r>
              <a:rPr lang="en-US" sz="3600" b="1" i="1">
                <a:latin typeface="Angsana New"/>
                <a:cs typeface="Angsana New"/>
              </a:rPr>
              <a:t> </a:t>
            </a:r>
            <a:r>
              <a:rPr lang="en-US" sz="3600" b="1" i="1" err="1">
                <a:latin typeface="Angsana New"/>
                <a:cs typeface="Angsana New"/>
              </a:rPr>
              <a:t>организма</a:t>
            </a:r>
            <a:r>
              <a:rPr lang="en-US" sz="3600" b="1" i="1">
                <a:latin typeface="Angsana New"/>
                <a:cs typeface="Angsana New"/>
              </a:rPr>
              <a:t> </a:t>
            </a:r>
            <a:r>
              <a:rPr lang="en-US" sz="3600" b="1" i="1" err="1">
                <a:latin typeface="Angsana New"/>
                <a:cs typeface="Angsana New"/>
              </a:rPr>
              <a:t>си</a:t>
            </a:r>
            <a:r>
              <a:rPr lang="en-US" sz="3600" b="1" i="1">
                <a:latin typeface="Angsana New"/>
                <a:cs typeface="Angsana New"/>
              </a:rPr>
              <a:t> и </a:t>
            </a:r>
            <a:r>
              <a:rPr lang="en-US" sz="3600" b="1" i="1" err="1">
                <a:latin typeface="Angsana New"/>
                <a:cs typeface="Angsana New"/>
              </a:rPr>
              <a:t>да</a:t>
            </a:r>
            <a:r>
              <a:rPr lang="en-US" sz="3600" b="1" i="1">
                <a:latin typeface="Angsana New"/>
                <a:cs typeface="Angsana New"/>
              </a:rPr>
              <a:t> </a:t>
            </a:r>
            <a:r>
              <a:rPr lang="en-US" sz="3600" b="1" i="1" err="1">
                <a:latin typeface="Angsana New"/>
                <a:cs typeface="Angsana New"/>
              </a:rPr>
              <a:t>станем</a:t>
            </a:r>
            <a:r>
              <a:rPr lang="en-US" sz="3600" b="1" i="1">
                <a:latin typeface="Angsana New"/>
                <a:cs typeface="Angsana New"/>
              </a:rPr>
              <a:t> </a:t>
            </a:r>
            <a:r>
              <a:rPr lang="en-US" sz="3600" b="1" i="1" err="1">
                <a:latin typeface="Angsana New"/>
                <a:cs typeface="Angsana New"/>
              </a:rPr>
              <a:t>по-здрави</a:t>
            </a:r>
            <a:r>
              <a:rPr lang="en-US" sz="3600" b="1" i="1">
                <a:latin typeface="Angsana New"/>
                <a:cs typeface="Angsana New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168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D1AF4E30-9DAC-9BAE-178A-85A3FA53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bg-BG" sz="3400" b="1" i="1">
                <a:ea typeface="+mj-lt"/>
                <a:cs typeface="Angsana New"/>
              </a:rPr>
              <a:t>2. Основни принципи на здравословното хранене</a:t>
            </a:r>
            <a:endParaRPr lang="bg-BG" sz="3400" b="1" i="1">
              <a:cs typeface="Angsana New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83039F69-C003-B113-BFE1-9722D7DD4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bg-BG" sz="2200">
                <a:latin typeface="Batang"/>
                <a:ea typeface="Batang"/>
              </a:rPr>
              <a:t>Основните принципи за здравословно хранене са:</a:t>
            </a:r>
          </a:p>
          <a:p>
            <a:pPr marL="0" indent="0">
              <a:buNone/>
            </a:pPr>
            <a:endParaRPr lang="bg-BG" sz="2200">
              <a:latin typeface="Batang"/>
              <a:ea typeface="Batang"/>
            </a:endParaRPr>
          </a:p>
          <a:p>
            <a:pPr marL="0" indent="0">
              <a:buNone/>
            </a:pPr>
            <a:r>
              <a:rPr lang="bg-BG" sz="2200">
                <a:latin typeface="Batang"/>
                <a:ea typeface="Batang"/>
              </a:rPr>
              <a:t>А) баланс</a:t>
            </a:r>
          </a:p>
          <a:p>
            <a:pPr marL="0" indent="0">
              <a:buNone/>
            </a:pPr>
            <a:endParaRPr lang="bg-BG" sz="2200">
              <a:latin typeface="Batang"/>
              <a:ea typeface="Batang"/>
            </a:endParaRPr>
          </a:p>
          <a:p>
            <a:pPr marL="0" indent="0">
              <a:buNone/>
            </a:pPr>
            <a:r>
              <a:rPr lang="bg-BG" sz="2200">
                <a:latin typeface="Batang"/>
                <a:ea typeface="Batang"/>
              </a:rPr>
              <a:t>Б) умереност</a:t>
            </a:r>
          </a:p>
          <a:p>
            <a:pPr marL="0" indent="0">
              <a:buNone/>
            </a:pPr>
            <a:endParaRPr lang="bg-BG" sz="2200">
              <a:latin typeface="Batang"/>
              <a:ea typeface="Batang"/>
            </a:endParaRPr>
          </a:p>
          <a:p>
            <a:pPr marL="0" indent="0">
              <a:buNone/>
            </a:pPr>
            <a:r>
              <a:rPr lang="bg-BG" sz="2200">
                <a:latin typeface="Batang"/>
                <a:ea typeface="Batang"/>
              </a:rPr>
              <a:t>В) разнообразие</a:t>
            </a:r>
          </a:p>
          <a:p>
            <a:pPr marL="0" indent="0">
              <a:buNone/>
            </a:pPr>
            <a:endParaRPr lang="bg-BG" sz="2200">
              <a:latin typeface="Batang"/>
              <a:ea typeface="Batang"/>
            </a:endParaRPr>
          </a:p>
          <a:p>
            <a:pPr marL="0" indent="0">
              <a:buNone/>
            </a:pPr>
            <a:r>
              <a:rPr lang="bg-BG" sz="2200">
                <a:latin typeface="Batang"/>
                <a:ea typeface="Batang"/>
              </a:rPr>
              <a:t>Г) редовност</a:t>
            </a:r>
          </a:p>
          <a:p>
            <a:pPr marL="0" indent="0">
              <a:buNone/>
            </a:pPr>
            <a:endParaRPr lang="bg-BG" sz="2200">
              <a:latin typeface="Batang"/>
              <a:ea typeface="Batang"/>
            </a:endParaRPr>
          </a:p>
        </p:txBody>
      </p:sp>
      <p:pic>
        <p:nvPicPr>
          <p:cNvPr id="4" name="Картина 3" descr="Пътят към здравословното хранене - CodeHealth">
            <a:extLst>
              <a:ext uri="{FF2B5EF4-FFF2-40B4-BE49-F238E27FC236}">
                <a16:creationId xmlns:a16="http://schemas.microsoft.com/office/drawing/2014/main" id="{03010BFA-FAC8-74DF-10CC-75D839CBDC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93" r="12160" b="-1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29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194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Картина 3" descr="Здравословно хранене за децата от 1- до 3-годишна възраст | Община Бургас">
            <a:extLst>
              <a:ext uri="{FF2B5EF4-FFF2-40B4-BE49-F238E27FC236}">
                <a16:creationId xmlns:a16="http://schemas.microsoft.com/office/drawing/2014/main" id="{0EAEF55C-8359-1A48-14AD-7C7B7DCFD3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876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8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2D5B4734-4486-0E39-D08E-35293E00F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0968" y="379502"/>
            <a:ext cx="5547471" cy="1899912"/>
          </a:xfrm>
        </p:spPr>
        <p:txBody>
          <a:bodyPr>
            <a:normAutofit/>
          </a:bodyPr>
          <a:lstStyle/>
          <a:p>
            <a:r>
              <a:rPr lang="bg-BG" sz="4000">
                <a:latin typeface="Book Antiqua"/>
                <a:ea typeface="+mj-lt"/>
                <a:cs typeface="+mj-lt"/>
              </a:rPr>
              <a:t>3. Основни хранителни групи</a:t>
            </a:r>
            <a:endParaRPr lang="bg-BG" sz="4000">
              <a:latin typeface="Book Antiqua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82AA7136-ED0D-51BB-509D-832C32930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5421" y="2103521"/>
            <a:ext cx="3822189" cy="37427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bg-BG" sz="2000">
                <a:latin typeface="Book Antiqua"/>
              </a:rPr>
              <a:t>А) зърнени храни: </a:t>
            </a:r>
            <a:r>
              <a:rPr lang="bg-BG" sz="2000" err="1">
                <a:latin typeface="Book Antiqua"/>
              </a:rPr>
              <a:t>киноа</a:t>
            </a:r>
            <a:r>
              <a:rPr lang="bg-BG" sz="2000">
                <a:latin typeface="Book Antiqua"/>
              </a:rPr>
              <a:t>, овесени ядки, кафяв ориз и др.</a:t>
            </a:r>
          </a:p>
          <a:p>
            <a:pPr marL="0" indent="0">
              <a:buNone/>
            </a:pPr>
            <a:endParaRPr lang="bg-BG" sz="2000">
              <a:latin typeface="Book Antiqua"/>
            </a:endParaRPr>
          </a:p>
          <a:p>
            <a:pPr marL="0" indent="0">
              <a:buNone/>
            </a:pPr>
            <a:r>
              <a:rPr lang="bg-BG" sz="2000">
                <a:latin typeface="Book Antiqua"/>
              </a:rPr>
              <a:t>Б) плодове и зеленчуци: богати на витамини, минимум 400г. Дневно</a:t>
            </a:r>
          </a:p>
          <a:p>
            <a:pPr marL="0" indent="0">
              <a:buNone/>
            </a:pPr>
            <a:endParaRPr lang="bg-BG" sz="2000">
              <a:latin typeface="Book Antiqua"/>
            </a:endParaRPr>
          </a:p>
          <a:p>
            <a:pPr marL="0" indent="0">
              <a:buNone/>
            </a:pPr>
            <a:r>
              <a:rPr lang="bg-BG" sz="2000">
                <a:latin typeface="Book Antiqua"/>
              </a:rPr>
              <a:t>В) белтъчни храни: месо, риба, яйца и др.</a:t>
            </a:r>
          </a:p>
          <a:p>
            <a:pPr marL="0" indent="0">
              <a:buNone/>
            </a:pPr>
            <a:endParaRPr lang="bg-BG" sz="2000">
              <a:latin typeface="Book Antiqua"/>
            </a:endParaRPr>
          </a:p>
          <a:p>
            <a:pPr marL="0" indent="0">
              <a:buNone/>
            </a:pPr>
            <a:r>
              <a:rPr lang="bg-BG" sz="2000">
                <a:latin typeface="Book Antiqua"/>
              </a:rPr>
              <a:t>Г) млечни продукти: мляко, кисело мляко, сирене и др</a:t>
            </a:r>
            <a:r>
              <a:rPr lang="bg-BG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6779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Картина 3" descr="Съвети за здравословно хранене">
            <a:extLst>
              <a:ext uri="{FF2B5EF4-FFF2-40B4-BE49-F238E27FC236}">
                <a16:creationId xmlns:a16="http://schemas.microsoft.com/office/drawing/2014/main" id="{5F99B1DA-9522-8896-DD99-708D950313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9" r="15387" b="1"/>
          <a:stretch>
            <a:fillRect/>
          </a:stretch>
        </p:blipFill>
        <p:spPr>
          <a:xfrm>
            <a:off x="-1" y="10"/>
            <a:ext cx="12228129" cy="4666928"/>
          </a:xfrm>
          <a:prstGeom prst="rect">
            <a:avLst/>
          </a:prstGeom>
        </p:spPr>
      </p:pic>
      <p:sp>
        <p:nvSpPr>
          <p:cNvPr id="5" name="Правоъгълник: със заоблени ъгли 4">
            <a:extLst>
              <a:ext uri="{FF2B5EF4-FFF2-40B4-BE49-F238E27FC236}">
                <a16:creationId xmlns:a16="http://schemas.microsoft.com/office/drawing/2014/main" id="{B6B1F38A-A701-22BF-39A5-7D6E2011DCE1}"/>
              </a:ext>
            </a:extLst>
          </p:cNvPr>
          <p:cNvSpPr/>
          <p:nvPr/>
        </p:nvSpPr>
        <p:spPr>
          <a:xfrm>
            <a:off x="2156896" y="1330345"/>
            <a:ext cx="7402285" cy="1570653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E96ACE8-E6A9-ADD1-FFD9-B579FF638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2446" y="1359263"/>
            <a:ext cx="7250272" cy="1509931"/>
          </a:xfrm>
        </p:spPr>
        <p:txBody>
          <a:bodyPr>
            <a:normAutofit/>
          </a:bodyPr>
          <a:lstStyle/>
          <a:p>
            <a:r>
              <a:rPr lang="bg-BG" sz="4000" b="1">
                <a:solidFill>
                  <a:schemeClr val="bg1"/>
                </a:solidFill>
                <a:latin typeface="Book Antiqua"/>
                <a:ea typeface="Batang"/>
                <a:cs typeface="Angsana New"/>
              </a:rPr>
              <a:t>4. Ролята на витамините и минералите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9E61DD44-BBF5-AE95-1835-68EC71E10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5756" y="4493528"/>
            <a:ext cx="8319467" cy="150993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bg-BG" sz="3000">
                <a:solidFill>
                  <a:schemeClr val="tx2"/>
                </a:solidFill>
                <a:latin typeface="Bookman Old Style"/>
              </a:rPr>
              <a:t>Витамините и минералите помагат на имунната система, костната структура, нервната система и метаболизма</a:t>
            </a:r>
          </a:p>
        </p:txBody>
      </p:sp>
    </p:spTree>
    <p:extLst>
      <p:ext uri="{BB962C8B-B14F-4D97-AF65-F5344CB8AC3E}">
        <p14:creationId xmlns:p14="http://schemas.microsoft.com/office/powerpoint/2010/main" val="3443199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A11CDAD-E6B1-13CE-9F76-31667261E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bg-BG" sz="4200">
                <a:ea typeface="+mj-lt"/>
                <a:cs typeface="+mj-lt"/>
              </a:rPr>
              <a:t>6. Вредни хранителни навици</a:t>
            </a:r>
            <a:endParaRPr lang="bg-BG" sz="42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F3BE44CF-4F1A-C90A-DBA7-956047766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bg-BG" sz="1900"/>
              <a:t>А) прекалено много приемане на захар</a:t>
            </a:r>
          </a:p>
          <a:p>
            <a:pPr marL="0" indent="0">
              <a:buNone/>
            </a:pPr>
            <a:endParaRPr lang="bg-BG" sz="1900"/>
          </a:p>
          <a:p>
            <a:pPr marL="0" indent="0">
              <a:buNone/>
            </a:pPr>
            <a:r>
              <a:rPr lang="bg-BG" sz="1900"/>
              <a:t>Б) ядене на бърза храна непрестанно</a:t>
            </a:r>
          </a:p>
          <a:p>
            <a:pPr marL="0" indent="0">
              <a:buNone/>
            </a:pPr>
            <a:endParaRPr lang="bg-BG" sz="1900"/>
          </a:p>
          <a:p>
            <a:pPr marL="0" indent="0">
              <a:buNone/>
            </a:pPr>
            <a:r>
              <a:rPr lang="bg-BG" sz="1900"/>
              <a:t>В) пиене на газирани напитки</a:t>
            </a:r>
          </a:p>
          <a:p>
            <a:pPr marL="0" indent="0">
              <a:buNone/>
            </a:pPr>
            <a:endParaRPr lang="bg-BG" sz="1900"/>
          </a:p>
          <a:p>
            <a:pPr marL="0" indent="0">
              <a:buNone/>
            </a:pPr>
            <a:r>
              <a:rPr lang="bg-BG" sz="1900"/>
              <a:t>Г) прекалено мазни и солени храни</a:t>
            </a:r>
          </a:p>
        </p:txBody>
      </p:sp>
      <p:pic>
        <p:nvPicPr>
          <p:cNvPr id="4" name="Картина 3" descr="Здравословно хранене - пълен наръчник | For Life">
            <a:extLst>
              <a:ext uri="{FF2B5EF4-FFF2-40B4-BE49-F238E27FC236}">
                <a16:creationId xmlns:a16="http://schemas.microsoft.com/office/drawing/2014/main" id="{E05127B7-F938-C7FE-1C45-274E67E148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38" r="16109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0072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Правоъгълник: със заоблени ъгли 4">
            <a:extLst>
              <a:ext uri="{FF2B5EF4-FFF2-40B4-BE49-F238E27FC236}">
                <a16:creationId xmlns:a16="http://schemas.microsoft.com/office/drawing/2014/main" id="{0CF7C576-0A2E-07B2-7FE2-90FD56346414}"/>
              </a:ext>
            </a:extLst>
          </p:cNvPr>
          <p:cNvSpPr/>
          <p:nvPr/>
        </p:nvSpPr>
        <p:spPr>
          <a:xfrm>
            <a:off x="603529" y="370936"/>
            <a:ext cx="4862101" cy="1806433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E2FE682C-6EE9-4B81-AF1F-C9F932F23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bg-BG">
                <a:latin typeface="Bookman Old Style"/>
                <a:ea typeface="+mj-lt"/>
                <a:cs typeface="+mj-lt"/>
              </a:rPr>
              <a:t>7. Значение на водата</a:t>
            </a:r>
            <a:endParaRPr lang="bg-BG">
              <a:latin typeface="Bookman Old Style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F24E59F0-8116-4D25-586D-EAD29A305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bg-BG" sz="2500">
                <a:latin typeface="Batang"/>
                <a:ea typeface="Batang"/>
              </a:rPr>
              <a:t>А) Трябва да пием поне 8 чаши вода на ден</a:t>
            </a:r>
          </a:p>
          <a:p>
            <a:pPr marL="0" indent="0">
              <a:buNone/>
            </a:pPr>
            <a:endParaRPr lang="bg-BG" sz="2500">
              <a:latin typeface="Batang"/>
              <a:ea typeface="Batang"/>
            </a:endParaRPr>
          </a:p>
          <a:p>
            <a:pPr marL="0" indent="0">
              <a:buNone/>
            </a:pPr>
            <a:r>
              <a:rPr lang="bg-BG" sz="2500">
                <a:latin typeface="Batang"/>
                <a:ea typeface="Batang"/>
              </a:rPr>
              <a:t>Б) Поддържа хидратация</a:t>
            </a:r>
          </a:p>
          <a:p>
            <a:pPr marL="0" indent="0">
              <a:buNone/>
            </a:pPr>
            <a:endParaRPr lang="bg-BG" sz="2500">
              <a:latin typeface="Batang"/>
              <a:ea typeface="Batang"/>
            </a:endParaRPr>
          </a:p>
          <a:p>
            <a:pPr marL="0" indent="0">
              <a:buNone/>
            </a:pPr>
            <a:r>
              <a:rPr lang="bg-BG" sz="2500">
                <a:latin typeface="Batang"/>
                <a:ea typeface="Batang"/>
              </a:rPr>
              <a:t>В) Помага да се концентрираме и да сме здрави</a:t>
            </a:r>
          </a:p>
        </p:txBody>
      </p:sp>
      <p:pic>
        <p:nvPicPr>
          <p:cNvPr id="4" name="Картина 3" descr="Минерална или изворна: как да изберем подходящата вода?">
            <a:extLst>
              <a:ext uri="{FF2B5EF4-FFF2-40B4-BE49-F238E27FC236}">
                <a16:creationId xmlns:a16="http://schemas.microsoft.com/office/drawing/2014/main" id="{ED6421B1-87AD-6C60-B544-1FFB20F0A8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83" r="21489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72629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D80C9EF-3CC6-4ECC-9C2D-9D0396C96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авоъгълник: със заоблени ъгли 7">
            <a:extLst>
              <a:ext uri="{FF2B5EF4-FFF2-40B4-BE49-F238E27FC236}">
                <a16:creationId xmlns:a16="http://schemas.microsoft.com/office/drawing/2014/main" id="{01EF3834-BD85-49BD-181E-494C7D1F6EAF}"/>
              </a:ext>
            </a:extLst>
          </p:cNvPr>
          <p:cNvSpPr/>
          <p:nvPr/>
        </p:nvSpPr>
        <p:spPr>
          <a:xfrm>
            <a:off x="626533" y="863600"/>
            <a:ext cx="8365066" cy="79586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E5B2F87D-FF0E-42B1-43D7-F665EC181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bg-BG" sz="4800">
                <a:latin typeface="Bookman Old Style"/>
                <a:ea typeface="+mj-lt"/>
                <a:cs typeface="+mj-lt"/>
              </a:rPr>
              <a:t>8. Ролята на белтъчините</a:t>
            </a:r>
            <a:endParaRPr lang="bg-BG" sz="4800">
              <a:latin typeface="Bookman Old Style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Картина 6" descr="Как здравословното хранене да бъде евтино? - Любопитно — Новини Стандарт">
            <a:extLst>
              <a:ext uri="{FF2B5EF4-FFF2-40B4-BE49-F238E27FC236}">
                <a16:creationId xmlns:a16="http://schemas.microsoft.com/office/drawing/2014/main" id="{1E98E409-CFCB-FDC9-E890-EA7ED63A13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59" r="2491" b="2"/>
          <a:stretch>
            <a:fillRect/>
          </a:stretch>
        </p:blipFill>
        <p:spPr>
          <a:xfrm>
            <a:off x="635295" y="2524715"/>
            <a:ext cx="5150277" cy="3714244"/>
          </a:xfrm>
          <a:prstGeom prst="rect">
            <a:avLst/>
          </a:prstGeom>
        </p:spPr>
      </p:pic>
      <p:sp>
        <p:nvSpPr>
          <p:cNvPr id="6" name="Контейнер за съдържание 5">
            <a:extLst>
              <a:ext uri="{FF2B5EF4-FFF2-40B4-BE49-F238E27FC236}">
                <a16:creationId xmlns:a16="http://schemas.microsoft.com/office/drawing/2014/main" id="{2F10D746-9148-8756-24C1-83BB60F83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bg-BG" sz="2500">
                <a:latin typeface="Calibri"/>
                <a:ea typeface="Calibri"/>
                <a:cs typeface="Calibri"/>
              </a:rPr>
              <a:t>Белтъците могат да изграждат мускули, също така помагат за растежа и по-бързо възстановяване, източниците на белтъците са: месо, риба, яйца, леща и др.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080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FBD4DD6-FA52-AAB9-87AB-7111D36C7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bg-BG" sz="3400">
                <a:ea typeface="+mj-lt"/>
                <a:cs typeface="Angsana New"/>
              </a:rPr>
              <a:t>9. Полезни и вредни мазнини</a:t>
            </a:r>
            <a:endParaRPr lang="bg-BG" sz="3400">
              <a:cs typeface="Angsan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8343B86-BCCC-BA49-A786-318081132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bg-BG" sz="2400" b="1">
                <a:cs typeface="Browallia New"/>
              </a:rPr>
              <a:t>Има полезни и вредни мазнини, полезните мазнини са зехтин, риба, авокадо и др.</a:t>
            </a:r>
          </a:p>
          <a:p>
            <a:pPr marL="0" indent="0">
              <a:buNone/>
            </a:pPr>
            <a:r>
              <a:rPr lang="bg-BG" sz="2400" b="1">
                <a:cs typeface="Browallia New"/>
              </a:rPr>
              <a:t>Вредните мазнини са пържени храни маргарин и преработени сладкиши</a:t>
            </a:r>
          </a:p>
        </p:txBody>
      </p:sp>
      <p:pic>
        <p:nvPicPr>
          <p:cNvPr id="4" name="Картина 3" descr="10 съвета за здравословно хранене от Oh!Good">
            <a:extLst>
              <a:ext uri="{FF2B5EF4-FFF2-40B4-BE49-F238E27FC236}">
                <a16:creationId xmlns:a16="http://schemas.microsoft.com/office/drawing/2014/main" id="{139A4664-35F4-0626-6C22-E874912F9A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29" r="21767" b="-1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6000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артина 3" descr="ХРАНЕНЕ И ЗДРАВЕ - Natural.BG">
            <a:extLst>
              <a:ext uri="{FF2B5EF4-FFF2-40B4-BE49-F238E27FC236}">
                <a16:creationId xmlns:a16="http://schemas.microsoft.com/office/drawing/2014/main" id="{CAFE1DEE-6C0B-0EFF-5F52-D2D38D9385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9" r="1" b="14601"/>
          <a:stretch>
            <a:fillRect/>
          </a:stretch>
        </p:blipFill>
        <p:spPr>
          <a:xfrm>
            <a:off x="10930" y="-28756"/>
            <a:ext cx="12195447" cy="6879745"/>
          </a:xfrm>
          <a:prstGeom prst="rect">
            <a:avLst/>
          </a:prstGeom>
        </p:spPr>
      </p:pic>
      <p:sp>
        <p:nvSpPr>
          <p:cNvPr id="5" name="Правоъгълник: със заоблени ъгли 4">
            <a:extLst>
              <a:ext uri="{FF2B5EF4-FFF2-40B4-BE49-F238E27FC236}">
                <a16:creationId xmlns:a16="http://schemas.microsoft.com/office/drawing/2014/main" id="{EA867C58-D83A-09FA-5803-E949CB1F2144}"/>
              </a:ext>
            </a:extLst>
          </p:cNvPr>
          <p:cNvSpPr/>
          <p:nvPr/>
        </p:nvSpPr>
        <p:spPr>
          <a:xfrm>
            <a:off x="1818575" y="1721449"/>
            <a:ext cx="8534400" cy="2743200"/>
          </a:xfrm>
          <a:prstGeom prst="roundRect">
            <a:avLst/>
          </a:prstGeom>
          <a:solidFill>
            <a:srgbClr val="6F876F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9414" y="-733991"/>
            <a:ext cx="3020876" cy="12206596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567EA8-C72D-4B9B-D23F-6B2E9F9C9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446" y="0"/>
            <a:ext cx="2843402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FBFA78-9360-1E01-5448-6D5AE0A3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038704" y="21736"/>
            <a:ext cx="3152862" cy="6858008"/>
          </a:xfrm>
          <a:prstGeom prst="rect">
            <a:avLst/>
          </a:prstGeom>
          <a:gradFill flip="none" rotWithShape="1">
            <a:gsLst>
              <a:gs pos="5000">
                <a:schemeClr val="accent5">
                  <a:alpha val="48000"/>
                </a:schemeClr>
              </a:gs>
              <a:gs pos="42000">
                <a:schemeClr val="accent5"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447" y="5288433"/>
            <a:ext cx="12199706" cy="159131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9000">
                <a:schemeClr val="accent2">
                  <a:alpha val="0"/>
                </a:schemeClr>
              </a:gs>
            </a:gsLst>
            <a:lin ang="588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4596" y="2224929"/>
            <a:ext cx="3866773" cy="54428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E18ABEE-224A-B72A-BE59-F979EC9BE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6915" y="1490887"/>
            <a:ext cx="7927785" cy="162066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10. </a:t>
            </a:r>
            <a:r>
              <a:rPr lang="en-US" sz="60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Заключение</a:t>
            </a:r>
            <a:endParaRPr lang="en-US" sz="60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FDAEBA81-4EF2-360E-D9E1-B444130DB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6764" y="3236207"/>
            <a:ext cx="7942381" cy="61847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500" err="1">
                <a:solidFill>
                  <a:srgbClr val="FFFFFF"/>
                </a:solidFill>
                <a:latin typeface="Arial Black"/>
              </a:rPr>
              <a:t>Здравословното</a:t>
            </a:r>
            <a:r>
              <a:rPr lang="en-US" sz="2500">
                <a:solidFill>
                  <a:srgbClr val="FFFFFF"/>
                </a:solidFill>
                <a:latin typeface="Arial Black"/>
              </a:rPr>
              <a:t> </a:t>
            </a:r>
            <a:r>
              <a:rPr lang="en-US" sz="2500" err="1">
                <a:solidFill>
                  <a:srgbClr val="FFFFFF"/>
                </a:solidFill>
                <a:latin typeface="Arial Black"/>
              </a:rPr>
              <a:t>хранене</a:t>
            </a:r>
            <a:r>
              <a:rPr lang="en-US" sz="2500">
                <a:solidFill>
                  <a:srgbClr val="FFFFFF"/>
                </a:solidFill>
                <a:latin typeface="Arial Black"/>
              </a:rPr>
              <a:t> е важна за </a:t>
            </a:r>
            <a:r>
              <a:rPr lang="en-US" sz="2500" err="1">
                <a:solidFill>
                  <a:srgbClr val="FFFFFF"/>
                </a:solidFill>
                <a:latin typeface="Arial Black"/>
              </a:rPr>
              <a:t>човека</a:t>
            </a:r>
            <a:r>
              <a:rPr lang="en-US" sz="2500">
                <a:solidFill>
                  <a:srgbClr val="FFFFFF"/>
                </a:solidFill>
                <a:latin typeface="Arial Black"/>
              </a:rPr>
              <a:t> и </a:t>
            </a:r>
            <a:r>
              <a:rPr lang="en-US" sz="2500" err="1">
                <a:solidFill>
                  <a:srgbClr val="FFFFFF"/>
                </a:solidFill>
                <a:latin typeface="Arial Black"/>
              </a:rPr>
              <a:t>може</a:t>
            </a:r>
            <a:r>
              <a:rPr lang="en-US" sz="2500">
                <a:solidFill>
                  <a:srgbClr val="FFFFFF"/>
                </a:solidFill>
                <a:latin typeface="Arial Black"/>
              </a:rPr>
              <a:t> </a:t>
            </a:r>
            <a:r>
              <a:rPr lang="en-US" sz="2500" err="1">
                <a:solidFill>
                  <a:srgbClr val="FFFFFF"/>
                </a:solidFill>
                <a:latin typeface="Arial Black"/>
              </a:rPr>
              <a:t>да</a:t>
            </a:r>
            <a:r>
              <a:rPr lang="en-US" sz="2500">
                <a:solidFill>
                  <a:srgbClr val="FFFFFF"/>
                </a:solidFill>
                <a:latin typeface="Arial Black"/>
              </a:rPr>
              <a:t> </a:t>
            </a:r>
            <a:r>
              <a:rPr lang="en-US" sz="2500" err="1">
                <a:solidFill>
                  <a:srgbClr val="FFFFFF"/>
                </a:solidFill>
                <a:latin typeface="Arial Black"/>
              </a:rPr>
              <a:t>помогне</a:t>
            </a:r>
            <a:r>
              <a:rPr lang="en-US" sz="2500">
                <a:solidFill>
                  <a:srgbClr val="FFFFFF"/>
                </a:solidFill>
                <a:latin typeface="Arial Black"/>
              </a:rPr>
              <a:t> </a:t>
            </a:r>
            <a:r>
              <a:rPr lang="en-US" sz="2500" err="1">
                <a:solidFill>
                  <a:srgbClr val="FFFFFF"/>
                </a:solidFill>
                <a:latin typeface="Arial Black"/>
              </a:rPr>
              <a:t>за</a:t>
            </a:r>
            <a:r>
              <a:rPr lang="en-US" sz="2500">
                <a:solidFill>
                  <a:srgbClr val="FFFFFF"/>
                </a:solidFill>
                <a:latin typeface="Arial Black"/>
              </a:rPr>
              <a:t> </a:t>
            </a:r>
            <a:r>
              <a:rPr lang="en-US" sz="2500" err="1">
                <a:solidFill>
                  <a:srgbClr val="FFFFFF"/>
                </a:solidFill>
                <a:latin typeface="Arial Black"/>
              </a:rPr>
              <a:t>много</a:t>
            </a:r>
            <a:r>
              <a:rPr lang="en-US" sz="2500">
                <a:solidFill>
                  <a:srgbClr val="FFFFFF"/>
                </a:solidFill>
                <a:latin typeface="Arial Black"/>
              </a:rPr>
              <a:t> </a:t>
            </a:r>
            <a:r>
              <a:rPr lang="en-US" sz="2500" err="1">
                <a:solidFill>
                  <a:srgbClr val="FFFFFF"/>
                </a:solidFill>
                <a:latin typeface="Arial Black"/>
              </a:rPr>
              <a:t>неща</a:t>
            </a:r>
            <a:endParaRPr lang="en-US" sz="2500">
              <a:solidFill>
                <a:srgbClr val="FFFFFF"/>
              </a:solidFill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690767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Office тема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тема</vt:lpstr>
      <vt:lpstr>Здравословно хранене</vt:lpstr>
      <vt:lpstr>1. Какво е здравословно хранене?</vt:lpstr>
      <vt:lpstr>2. Основни принципи на здравословното хранене</vt:lpstr>
      <vt:lpstr>3. Основни хранителни групи</vt:lpstr>
      <vt:lpstr>4. Ролята на витамините и минералите</vt:lpstr>
      <vt:lpstr>6. Вредни хранителни навици</vt:lpstr>
      <vt:lpstr>7. Значение на водата</vt:lpstr>
      <vt:lpstr>8. Ролята на белтъчините</vt:lpstr>
      <vt:lpstr>9. Полезни и вредни мазнини</vt:lpstr>
      <vt:lpstr>10. 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2026-02-18T10:37:26Z</dcterms:created>
  <dcterms:modified xsi:type="dcterms:W3CDTF">2026-03-23T19:53:59Z</dcterms:modified>
</cp:coreProperties>
</file>