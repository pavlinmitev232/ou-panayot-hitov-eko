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d20c12d89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d20c12d89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d20c12d89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d20c12d89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d2a35c3c0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d2a35c3c0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2a35c3c0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2a35c3c0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2a35c3c0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2a35c3c0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1551675" y="367300"/>
            <a:ext cx="6296100" cy="200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descr="Drops Splashing Onto Water (Предоставено от Getty Images)"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200" y="-174563"/>
            <a:ext cx="9244201" cy="54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3223025" y="1519675"/>
            <a:ext cx="567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1498500" y="1202375"/>
            <a:ext cx="6046800" cy="3105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bg" sz="5200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Мерки и решения за опазване на водите</a:t>
            </a:r>
            <a:endParaRPr sz="5200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2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4492225" y="2588450"/>
            <a:ext cx="4692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dean pond: july  u.k. (Предоставено от Getty Images)"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58312" y="-136300"/>
            <a:ext cx="9432873" cy="56558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1164575" y="351800"/>
            <a:ext cx="6587100" cy="12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7" name="Google Shape;67;p14"/>
          <p:cNvSpPr txBox="1"/>
          <p:nvPr/>
        </p:nvSpPr>
        <p:spPr>
          <a:xfrm>
            <a:off x="1358650" y="212200"/>
            <a:ext cx="5446800" cy="52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 sz="310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Водната криза: Защо замърсяваме живота си?</a:t>
            </a:r>
            <a:endParaRPr sz="3400">
              <a:solidFill>
                <a:schemeClr val="dk2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42950" y="1613300"/>
            <a:ext cx="69873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chemeClr val="accent1"/>
                </a:solidFill>
              </a:rPr>
              <a:t>Ключови факти за начало: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chemeClr val="accent1"/>
                </a:solidFill>
              </a:rPr>
              <a:t>80% от отпадните води в света се изливат обратно в природата без никакво пречистване.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chemeClr val="accent1"/>
                </a:solidFill>
              </a:rPr>
              <a:t>Над 220 милиона тона пластмаса се очаква да бъдат изхвърлени само през 2024 г., като голяма част попада в океаните.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1800">
                <a:solidFill>
                  <a:schemeClr val="accent1"/>
                </a:solidFill>
              </a:rPr>
              <a:t>Замърсяването не е просто боклук – това са химикали, микропластмаса и бактерии, които се връщат при нас чрез храната и водата. </a:t>
            </a:r>
            <a:endParaRPr sz="1800">
              <a:solidFill>
                <a:schemeClr val="accen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1357450" y="1219600"/>
            <a:ext cx="4773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descr="blue liquid water splash with bubble (Предоставено от Getty Images)"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85400" y="-197050"/>
            <a:ext cx="9025752" cy="565587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/>
        </p:nvSpPr>
        <p:spPr>
          <a:xfrm>
            <a:off x="2001600" y="230475"/>
            <a:ext cx="4973700" cy="13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29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Индивидуални мерки (Какво можем да направим у дома?</a:t>
            </a:r>
            <a:endParaRPr sz="29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388200" y="2171425"/>
            <a:ext cx="3360300" cy="305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Roboto"/>
              <a:buChar char="●"/>
            </a:pPr>
            <a:r>
              <a:rPr b="1" lang="bg" sz="120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Разумно потребление:</a:t>
            </a:r>
            <a:r>
              <a:rPr lang="bg" sz="120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Спиране на чешмата, докато си мием зъбите, и предпочитане на душа пред ваната.</a:t>
            </a:r>
            <a:endParaRPr sz="1200">
              <a:solidFill>
                <a:srgbClr val="0A0A0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Roboto"/>
              <a:buChar char="●"/>
            </a:pPr>
            <a:r>
              <a:rPr b="1" lang="bg" sz="120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Поправка на течове:</a:t>
            </a:r>
            <a:r>
              <a:rPr lang="bg" sz="120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Едно капещо кранче може да разхити над 15 литра вода на ден.</a:t>
            </a:r>
            <a:endParaRPr sz="1200">
              <a:solidFill>
                <a:srgbClr val="0A0A0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Roboto"/>
              <a:buChar char="●"/>
            </a:pPr>
            <a:r>
              <a:rPr b="1" lang="bg" sz="120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Енергоспестяващи уреди:</a:t>
            </a:r>
            <a:r>
              <a:rPr lang="bg" sz="120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Използване на перални и съдомиялни машини с нисък разход на вода (клас A+++).</a:t>
            </a:r>
            <a:endParaRPr sz="1200">
              <a:solidFill>
                <a:srgbClr val="0A0A0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Mountainous landscape (Предоставено от Getty Images)" id="85" name="Google Shape;8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10200"/>
            <a:ext cx="8832302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6"/>
          <p:cNvSpPr txBox="1"/>
          <p:nvPr/>
        </p:nvSpPr>
        <p:spPr>
          <a:xfrm>
            <a:off x="1694800" y="118250"/>
            <a:ext cx="5754300" cy="11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24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Технологични и индустриални решения</a:t>
            </a:r>
            <a:endParaRPr sz="24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3415850" y="1550275"/>
            <a:ext cx="5754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906525" y="1550275"/>
            <a:ext cx="6660900" cy="3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Roboto"/>
              <a:buChar char="●"/>
            </a:pPr>
            <a:r>
              <a:rPr b="1" lang="bg" sz="18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Пречиствателни станции:</a:t>
            </a:r>
            <a:r>
              <a:rPr lang="bg" sz="18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Модернизиране на системите за филтриране на отпадъчните води, преди да се върнат в природата.</a:t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Roboto"/>
              <a:buChar char="●"/>
            </a:pPr>
            <a:r>
              <a:rPr b="1" lang="bg" sz="18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Капково напояване:</a:t>
            </a:r>
            <a:r>
              <a:rPr lang="bg" sz="18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Ефективно поливане в земеделието, което доставя вода директно до корена и намалява изпарението.</a:t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800"/>
              <a:buFont typeface="Roboto"/>
              <a:buChar char="●"/>
            </a:pPr>
            <a:r>
              <a:rPr b="1" lang="bg" sz="18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Рециклиране на "сива" вода:</a:t>
            </a:r>
            <a:r>
              <a:rPr lang="bg" sz="18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Повторно използване на вода от бита за промишлени цели или поливане.</a:t>
            </a:r>
            <a:endParaRPr sz="1800">
              <a:solidFill>
                <a:srgbClr val="0A0A0A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21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Polluted beach (Предоставено от Getty Images)" id="95" name="Google Shape;9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88925"/>
            <a:ext cx="914399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7"/>
          <p:cNvSpPr txBox="1"/>
          <p:nvPr/>
        </p:nvSpPr>
        <p:spPr>
          <a:xfrm>
            <a:off x="1686200" y="412450"/>
            <a:ext cx="5022300" cy="7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24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Глобални политики и опазване на екосистемите</a:t>
            </a:r>
            <a:endParaRPr sz="24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7" name="Google Shape;97;p17"/>
          <p:cNvSpPr txBox="1"/>
          <p:nvPr/>
        </p:nvSpPr>
        <p:spPr>
          <a:xfrm>
            <a:off x="0" y="1625350"/>
            <a:ext cx="3530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Roboto"/>
              <a:buChar char="●"/>
            </a:pPr>
            <a:r>
              <a:rPr b="1" lang="bg" sz="12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Защита на вододайните зони:</a:t>
            </a:r>
            <a:r>
              <a:rPr lang="bg" sz="12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Строг контрол върху изхвърлянето на химикали и пластмаса в реките и океаните.</a:t>
            </a:r>
            <a:endParaRPr sz="1200">
              <a:solidFill>
                <a:srgbClr val="0A0A0A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Roboto"/>
              <a:buChar char="●"/>
            </a:pPr>
            <a:r>
              <a:rPr b="1" lang="bg" sz="12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Залесяване:</a:t>
            </a:r>
            <a:r>
              <a:rPr lang="bg" sz="12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Горите помагат за задържане на влагата в почвата и регулират естествения воден цикъл.</a:t>
            </a:r>
            <a:endParaRPr sz="1200">
              <a:solidFill>
                <a:srgbClr val="0A0A0A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200"/>
              <a:buFont typeface="Roboto"/>
              <a:buChar char="●"/>
            </a:pPr>
            <a:r>
              <a:rPr b="1" lang="bg" sz="12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Образование и закони:</a:t>
            </a:r>
            <a:r>
              <a:rPr lang="bg" sz="12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Въвеждане на по-строги санкции за замърсителите и повишаване на обществената информираност.</a:t>
            </a:r>
            <a:endParaRPr sz="1200">
              <a:solidFill>
                <a:srgbClr val="0A0A0A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descr="Drop of Liquid Falling Into Water (Предоставено от Getty Images)" id="104" name="Google Shape;10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006850" y="-236475"/>
            <a:ext cx="10092902" cy="537997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8"/>
          <p:cNvSpPr txBox="1"/>
          <p:nvPr/>
        </p:nvSpPr>
        <p:spPr>
          <a:xfrm>
            <a:off x="703600" y="206225"/>
            <a:ext cx="6174600" cy="10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24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Заключение – Бъдещето е в нашите ръце</a:t>
            </a:r>
            <a:endParaRPr sz="2400">
              <a:solidFill>
                <a:schemeClr val="dk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>
            <a:off x="-436700" y="1528500"/>
            <a:ext cx="24384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Roboto"/>
              <a:buChar char="●"/>
            </a:pPr>
            <a:r>
              <a:rPr b="1" lang="bg" sz="11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Водата е живот:</a:t>
            </a:r>
            <a:r>
              <a:rPr lang="bg" sz="11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Тя не е безкраен ресурс, а дар, който трябва да пазим заедно.</a:t>
            </a:r>
            <a:endParaRPr sz="1100">
              <a:solidFill>
                <a:srgbClr val="0A0A0A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Roboto"/>
              <a:buChar char="●"/>
            </a:pPr>
            <a:r>
              <a:rPr b="1" lang="bg" sz="11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Всяко действие има значение:</a:t>
            </a:r>
            <a:r>
              <a:rPr lang="bg" sz="11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Промяната започва от ежедневните ни навици.</a:t>
            </a:r>
            <a:endParaRPr sz="1100">
              <a:solidFill>
                <a:srgbClr val="0A0A0A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A0A0A"/>
              </a:buClr>
              <a:buSzPts val="1100"/>
              <a:buFont typeface="Roboto"/>
              <a:buChar char="●"/>
            </a:pPr>
            <a:r>
              <a:rPr b="1" lang="bg" sz="11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Нашият ангажимент:</a:t>
            </a:r>
            <a:r>
              <a:rPr lang="bg" sz="11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 Нека съхраним чистата вода за следващите поколения.</a:t>
            </a:r>
            <a:endParaRPr sz="1100">
              <a:solidFill>
                <a:srgbClr val="0A0A0A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150000"/>
              </a:lnSpc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bg" sz="1100">
                <a:solidFill>
                  <a:srgbClr val="0A0A0A"/>
                </a:solidFill>
                <a:highlight>
                  <a:srgbClr val="FFFFFF"/>
                </a:highlight>
                <a:latin typeface="Comic Sans MS"/>
                <a:ea typeface="Comic Sans MS"/>
                <a:cs typeface="Comic Sans MS"/>
                <a:sym typeface="Comic Sans MS"/>
              </a:rPr>
              <a:t>Благодаря за вниманието!</a:t>
            </a:r>
            <a:endParaRPr b="1" sz="1100">
              <a:solidFill>
                <a:srgbClr val="0A0A0A"/>
              </a:solidFill>
              <a:highlight>
                <a:srgbClr val="FFFFFF"/>
              </a:highlight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